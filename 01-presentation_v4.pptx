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Участников</c:v>
                </c:pt>
              </c:strCache>
            </c:strRef>
          </c:tx>
          <c:spPr>
            <a:solidFill>
              <a:srgbClr val="FF5A00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Бронза</c:v>
                  </c:pt>
                  <c:pt idx="1">
                    <c:v>Серебро</c:v>
                  </c:pt>
                  <c:pt idx="2">
                    <c:v>Золото</c:v>
                  </c:pt>
                  <c:pt idx="3">
                    <c:v>Платина</c:v>
                  </c:pt>
                  <c:pt idx="4">
                    <c:v>Рубин</c:v>
                  </c:pt>
                  <c:pt idx="5">
                    <c:v>Изумруд</c:v>
                  </c:pt>
                  <c:pt idx="6">
                    <c:v>Сапфир</c:v>
                  </c:pt>
                  <c:pt idx="7">
                    <c:v>Аметист</c:v>
                  </c:pt>
                  <c:pt idx="8">
                    <c:v>Обсидиан</c:v>
                  </c:pt>
                  <c:pt idx="9">
                    <c:v>Жемчуг</c:v>
                  </c:pt>
                  <c:pt idx="10">
                    <c:v>Алмаз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884</c:v>
                </c:pt>
                <c:pt idx="1">
                  <c:v>1384</c:v>
                </c:pt>
                <c:pt idx="2">
                  <c:v>1484</c:v>
                </c:pt>
                <c:pt idx="3">
                  <c:v>1469</c:v>
                </c:pt>
                <c:pt idx="4">
                  <c:v>1193</c:v>
                </c:pt>
                <c:pt idx="5">
                  <c:v>818</c:v>
                </c:pt>
                <c:pt idx="6">
                  <c:v>440</c:v>
                </c:pt>
                <c:pt idx="7">
                  <c:v>179</c:v>
                </c:pt>
                <c:pt idx="8">
                  <c:v>57</c:v>
                </c:pt>
                <c:pt idx="9">
                  <c:v>13</c:v>
                </c:pt>
                <c:pt idx="10">
                  <c:v>1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3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не проговаривать — сразу к слайду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Формулу прочитать почти дословно. Не произносить «геймификация», «игровой слой», «движок».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Пауза после «Измерено» и после «Гипотеза» — эксперты должны услышать, что вы их разделяете.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1:05. Вход и действие. Про Аню как про человека, не как про юзкейс. Экран показать, не пересказывать.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1:05. Система, результат, ценность. Закончить на «вернулась не за скидкой».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Одно предложение на компонент. Ограничение назвать самим. Про отсутствие LLM: расчёт очков должен быть объяснимым, поэтому правила.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Главный слайд. Не оправдываться: проверили самое рискованное допущение, оно не подтвердилось. Сказать вслух, что ноль — это граница, а не запас.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0:40. Финальная фраза дословно: «Лиги экономии дают покупателю причину вернуться на этой неделе, а сети — частоту, которая не съедает маржу. Мы проверили это на восьми тысячах профилей. Следующий шаг — начислять за прирост над личной базой: по расчёту это выводит конструкцию из нуля в плюс. Для пилота нам нужны обезличенные чеки за полгода.»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и зоны ответственности. Не зачитывать — дать прочитать.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«сколько лиг и работают ли верхние».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«что если маржа ниже» и «что если отклика не будет».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«как отличаете накрутку» и «а если заблокируете честного».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«чем вы лучше существующих игр в ритейле».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«а если у сети нет бюджета на кэшбэк».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«покажите второй движок на этом скелете».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1371600" cy="118872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1488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8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Лиги</a:t>
            </a:r>
            <a:endParaRPr lang="en-US" sz="6600" dirty="0"/>
          </a:p>
          <a:p>
            <a:pPr indent="0" marL="0">
              <a:lnSpc>
                <a:spcPts val="68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экономии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слой поверх программы лояльности X5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Соревнование в группе, где приз — условия на следующий месяц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11055096" cy="3794760"/>
          </a:xfrm>
          <a:prstGeom prst="roundRect">
            <a:avLst>
              <a:gd name="adj" fmla="val 2892"/>
            </a:avLst>
          </a:prstGeom>
          <a:solidFill>
            <a:srgbClr val="0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606040"/>
            <a:ext cx="101406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создали </a:t>
            </a:r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«Лиги экономии»</a:t>
            </a:r>
            <a:pPr indent="0" marL="0">
              <a:lnSpc>
                <a:spcPts val="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</a:t>
            </a:r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покупателей «Пятёрочки», «Перекрёстка» и «Чижика»</a:t>
            </a:r>
            <a:pPr indent="0" marL="0">
              <a:lnSpc>
                <a:spcPts val="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игровой слой поверх программы лояльности X5, который превращает регулярные покупки в </a:t>
            </a:r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ежемесячное соревнование внутри группы похожих покупателей</a:t>
            </a:r>
            <a:pPr indent="0" marL="0">
              <a:lnSpc>
                <a:spcPts val="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Скидка работает разово, соревнование за расширенные условия — каждый месяц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меняется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511296"/>
            <a:ext cx="2953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Соревнование с другими покупателями за постоянные условия вместо разовых скидок. Место в группе видно, условия можно потерять.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3400" y="233172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F1F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пользуется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511296"/>
            <a:ext cx="2953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Держатель карты лояльности. Возвращается регулярно, без push-уведомления.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19872" y="233172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94192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доказано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3328416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Измерено: награда не съедает маржу. 8 000 профилей, 416 230 чеков, 6 665 магазинов.</a:t>
            </a:r>
            <a:endParaRPr lang="en-US" sz="19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Гипотеза: прирост частоты. Меряет пилот.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· ВХОД И ДЕЙСТВИЕ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Приложение говорит, что сделать, а не предлагает скидку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5420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Золотая лига · группа 26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75888" y="25420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дней до конца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301752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место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1248" y="358444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3584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Аня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584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1248" y="4151376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151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место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4151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41248" y="4718304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FE0C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718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зона вылета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47183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A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558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1248" y="5257800"/>
            <a:ext cx="4846320" cy="594360"/>
          </a:xfrm>
          <a:prstGeom prst="roundRect">
            <a:avLst>
              <a:gd name="adj" fmla="val 10769"/>
            </a:avLst>
          </a:prstGeom>
          <a:solidFill>
            <a:srgbClr val="FF5A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8408" y="5257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безопасной зоны 46 очков — один поход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2331720"/>
            <a:ext cx="520293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Вход. </a:t>
            </a:r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Аня седьмая из двадцати шести, до вылета 46 очков.</a:t>
            </a:r>
            <a:endParaRPr lang="en-US" sz="2100" dirty="0"/>
          </a:p>
          <a:p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Действие. </a:t>
            </a:r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Идёт в «Пятёрочку» у дома в субботу.</a:t>
            </a:r>
            <a:endParaRPr lang="en-US" sz="2100" dirty="0"/>
          </a:p>
          <a:p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пошла. </a:t>
            </a:r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«скидка на йогурт», а «потеряешь выгодные условия на следующий месяц».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· СИСТЕМА И РЕЗУЛЬТАТ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Месяц завершился — условия определены автоматически исходя из активности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33172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Система. </a:t>
            </a:r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Чеки → очки за сумму и регулярность → место в группе → переход в новую лигу.</a:t>
            </a:r>
            <a:endParaRPr lang="en-US" sz="2100" dirty="0"/>
          </a:p>
          <a:p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Результат. </a:t>
            </a:r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Аня перешла в следующую лигу и выбирает на одну категорию кэшбэка больше.</a:t>
            </a:r>
            <a:endParaRPr lang="en-US" sz="2100" dirty="0"/>
          </a:p>
          <a:p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Ценность. </a:t>
            </a:r>
            <a:pPr indent="0" marL="0">
              <a:lnSpc>
                <a:spcPts val="3000"/>
              </a:lnSpc>
              <a:spcAft>
                <a:spcPts val="1400"/>
              </a:spcAft>
              <a:buNone/>
            </a:pPr>
            <a:r>
              <a:rPr lang="en-US" sz="21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Вернулась не за скидкой, а чтобы не потерять выгодные условия.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601968" y="2331720"/>
            <a:ext cx="5020056" cy="3794760"/>
          </a:xfrm>
          <a:prstGeom prst="roundRect">
            <a:avLst>
              <a:gd name="adj" fmla="val 2892"/>
            </a:avLst>
          </a:prstGeom>
          <a:solidFill>
            <a:srgbClr val="F1F2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76288" y="2542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месяца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884664" y="25420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из 26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76288" y="3108960"/>
            <a:ext cx="4471416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сумму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067544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76288" y="3730752"/>
            <a:ext cx="4471416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0880" y="37307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регулярность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067544" y="3730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76288" y="4352544"/>
            <a:ext cx="4471416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43525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в лигу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067544" y="43525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Платина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76288" y="5257800"/>
            <a:ext cx="4471416" cy="594360"/>
          </a:xfrm>
          <a:prstGeom prst="roundRect">
            <a:avLst>
              <a:gd name="adj" fmla="val 10769"/>
            </a:avLst>
          </a:prstGeom>
          <a:solidFill>
            <a:srgbClr val="FF5A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13448" y="5257800"/>
            <a:ext cx="4197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месяц: 5 подкатегорий вместо 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Правила, а не модель: участник должен понимать, за что получает очки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2340864"/>
            <a:ext cx="18836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Чеки</a:t>
            </a:r>
            <a:endParaRPr lang="en-US" sz="19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сумма, дата и время, магазин, категории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2871216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163824" y="2212848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5A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64992" y="2340864"/>
            <a:ext cx="30266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очков</a:t>
            </a:r>
            <a:endParaRPr lang="en-US" sz="19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вогнутая функция суммы, потолок, регулярность. Антифрод в правилах зачёта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903720" y="2212848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F1F2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04888" y="2340864"/>
            <a:ext cx="18836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группы</a:t>
            </a:r>
            <a:endParaRPr lang="en-US" sz="19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сегмент, город, частота, средний чек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208008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500616" y="2212848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F1F2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01784" y="2340864"/>
            <a:ext cx="18836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месяца</a:t>
            </a:r>
            <a:endParaRPr lang="en-US" sz="19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переходы и актуализация условий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66928" y="3703320"/>
            <a:ext cx="3502152" cy="2423160"/>
          </a:xfrm>
          <a:prstGeom prst="roundRect">
            <a:avLst>
              <a:gd name="adj" fmla="val 4528"/>
            </a:avLst>
          </a:prstGeom>
          <a:solidFill>
            <a:srgbClr val="F1F2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977640"/>
            <a:ext cx="3044952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741672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блокировки на основе аналитики. Четыре объяснимых правила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43400" y="3703320"/>
            <a:ext cx="3502152" cy="2423160"/>
          </a:xfrm>
          <a:prstGeom prst="roundRect">
            <a:avLst>
              <a:gd name="adj" fmla="val 4528"/>
            </a:avLst>
          </a:prstGeom>
          <a:solidFill>
            <a:srgbClr val="F1F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99432" y="3977640"/>
            <a:ext cx="3044952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 ₽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741672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разброс среднего чека в группе против 412 ₽ по лиге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119872" y="3703320"/>
            <a:ext cx="3502152" cy="2423160"/>
          </a:xfrm>
          <a:prstGeom prst="roundRect">
            <a:avLst>
              <a:gd name="adj" fmla="val 4528"/>
            </a:avLst>
          </a:prstGeom>
          <a:solidFill>
            <a:srgbClr val="0000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75904" y="3977640"/>
            <a:ext cx="3044952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4741672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случаев сговора определено — алгоритмами он не ловится, нужна ML-модель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конструкция награды была убыточной на 99% участников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6060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· ЕДИНАЯ СТАВКА 5%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35224"/>
            <a:ext cx="30449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−20,6 ₽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94106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участника в месяц. Нужен рост оборота 2,5–7,9%, заложено 2,0–7,0%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43400" y="233172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FF5A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6060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 · СТАВКА = ДОЛЯ МАРЖИ ГРУППЫ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935224"/>
            <a:ext cx="30449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−0,06 ₽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941064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79,8 ₽ против прироста маржи 79,7 ₽. Выход в ноль, без запаса прочности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119872" y="233172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94192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Условия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3877056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Синтетика: 8 000 профилей, 416 230 чеков, 6 665 магазинов, 5 месячных циклов.</a:t>
            </a:r>
            <a:endParaRPr lang="en-US" sz="19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Отклик и маржа по группам — допущения, не реальные данные.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И СЛЕДУЮЩИЙ ШАГ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Дальнейшие шаги по развитию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Сделано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877056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очков, подбор групп, месячный расчёт, экономика, антифрод. Прототип на четырёх экранах.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3400" y="233172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F1F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Проверено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877056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на синтетике: результат отрицательный, конструкция игрового слоя перенастроена и сбалансирована в безубыточность.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19872" y="2331720"/>
            <a:ext cx="3502152" cy="3794760"/>
          </a:xfrm>
          <a:prstGeom prst="roundRect">
            <a:avLst>
              <a:gd name="adj" fmla="val 3133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94192" y="260604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Планируется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3877056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Расчёты на реальных данных. Пилот на сотрудниках компании, четыре недели. Критерий — рост частоты покупок без падения маржи.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F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100492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человека в команде: продакт и инженер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390388" cy="3383280"/>
          </a:xfrm>
          <a:prstGeom prst="roundRect">
            <a:avLst>
              <a:gd name="adj" fmla="val 3243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606040"/>
            <a:ext cx="4841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35224"/>
            <a:ext cx="4841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Данил Черник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520440"/>
            <a:ext cx="48417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сегмента и целевой метрики, бэклог гипотез и самое рискованное предположение, конструкция награды и её экономика, план пилота и защитные метрики.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31636" y="2331720"/>
            <a:ext cx="5390388" cy="3383280"/>
          </a:xfrm>
          <a:prstGeom prst="roundRect">
            <a:avLst>
              <a:gd name="adj" fmla="val 3243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5956" y="2606040"/>
            <a:ext cx="4841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 И FRONTEND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05956" y="2935224"/>
            <a:ext cx="4841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Константин Фадеев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05956" y="3520440"/>
            <a:ext cx="48417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синтетики с разметкой накрутки, движок очков, подбор групп, симулятор месячных циклов, расчёт экономики, антифрод-скоринг. Спецификация экранов и кликабельный прототип.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 ЛИГАМ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10049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Верхние три лиги включают 0,9% участников</a:t>
            </a:r>
            <a:endParaRPr lang="en-US" sz="3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2395728"/>
          <a:ext cx="11055096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66928" y="60807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 пятого месячного цикла, 7 897 участников. Доля вылета участников из трёх верхних лиг — 56,2%.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ЭКОНОМИКИ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10049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Единая ставка на все категории выходит в плюс только выше допущения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24912"/>
          <a:ext cx="11055096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371600"/>
                <a:gridCol w="1371600"/>
                <a:gridCol w="1371600"/>
                <a:gridCol w="1371600"/>
                <a:gridCol w="136245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Отклик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маржа 16%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×0,5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−65,8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−62,5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−59,3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−56,1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−51,2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−46,4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×0,75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−52,9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−48,0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−43,2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−38,3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−31,1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−23,8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×1,0 базовое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−40,0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−33,5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−27,1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−20,6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×1,25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−27,1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−19,0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×1,5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−14,2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−4,5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66928" y="60807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сети на участника в месяц, ₽. Поэтому ставка перепривязана к марже конкретной категории.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АНТИФРОД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10049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точных правила блокировки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68880"/>
          <a:ext cx="5943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  <a:gridCol w="1280160"/>
                <a:gridCol w="9144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Правило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Всего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Помечено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Дробление чеков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Мелкие чеки подряд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Несовместимая география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Сговор в группе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013448" y="2468880"/>
            <a:ext cx="4608576" cy="3063240"/>
          </a:xfrm>
          <a:prstGeom prst="roundRect">
            <a:avLst>
              <a:gd name="adj" fmla="val 3582"/>
            </a:avLst>
          </a:prstGeom>
          <a:solidFill>
            <a:srgbClr val="F1F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287768" y="274320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Порог словами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287768" y="2642616"/>
            <a:ext cx="40599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Начисление приостанавливается, если выполнено хотя бы одно: больше трёх чеков за день; больше десятой части чеков в одном магазине с интервалом меньше сорока минут; больше половины чеков ниже ста рублей; покупки в двух городах за день.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0807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Мягкие признаки исключены: их точность 5–6%. Сговор в группе сложно определять — нужна отдельная ML-модель.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10049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Есть баллы, промо и отдельные игровые механики. Цельного игрового слоя нет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51760"/>
          <a:ext cx="11055096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830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Аналог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5F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Чего не закрывает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«Холодильник выгоды», X5 Клуб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Механика одна на всех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«Пандагочи», Самокат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Сезонный проект, нет локального рейтинга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«Твой Перекрёсток»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Рейтинг федеральный, а не соседский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«Играй, лето продлевай!», Магнит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Привязка к спонсорам, а не к экономике покупателя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5029200"/>
            <a:ext cx="11055096" cy="822960"/>
          </a:xfrm>
          <a:prstGeom prst="roundRect">
            <a:avLst>
              <a:gd name="adj" fmla="val 11111"/>
            </a:avLst>
          </a:prstGeom>
          <a:solidFill>
            <a:srgbClr val="F1F2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" y="50292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Отстройка: 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— условия на месяц, а не разовый приз · группа похожих, а не федеральная таблица · экономика и антифрод посчитаны до пилота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НЕМАТЕРИАЛЬНЫЕ НАГРАДЫ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100492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Треть участников получает меньше 20 ₽ — там должны работать другие награды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66928" y="2697480"/>
            <a:ext cx="3502152" cy="2331720"/>
          </a:xfrm>
          <a:prstGeom prst="roundRect">
            <a:avLst>
              <a:gd name="adj" fmla="val 4706"/>
            </a:avLst>
          </a:prstGeom>
          <a:solidFill>
            <a:srgbClr val="F1F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97180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 о затратах и экономии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89534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«Календаря выгоды» X5 с года на сезон.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43400" y="2697480"/>
            <a:ext cx="3502152" cy="2331720"/>
          </a:xfrm>
          <a:prstGeom prst="roundRect">
            <a:avLst>
              <a:gd name="adj" fmla="val 4706"/>
            </a:avLst>
          </a:prstGeom>
          <a:solidFill>
            <a:srgbClr val="F1F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97180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Ранний доступ к промоакциям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89534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на акции растёт с лигой: 2 часа → сутки.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19872" y="2697480"/>
            <a:ext cx="3502152" cy="2331720"/>
          </a:xfrm>
          <a:prstGeom prst="roundRect">
            <a:avLst>
              <a:gd name="adj" fmla="val 4706"/>
            </a:avLst>
          </a:prstGeom>
          <a:solidFill>
            <a:srgbClr val="FF5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94192" y="297180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Голосование за ассортимент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389534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ВкусВилл так решает судьбу новинок.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0807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Предельная стоимость всех трёх близка к нулю, все реализуемы внутри приложения и системы лояльности.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2148840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616184" y="2926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D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РАСШИРЯЕМОСТЬ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10049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Награду переделали трижды — движок очков не тронули ни разу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66928" y="2432304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2560320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ставка кэшбэка 5%</a:t>
            </a:r>
            <a:endParaRPr lang="en-US" sz="19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убыточно на 99% участников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995928" y="3026664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61688" y="2432304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2856" y="2560320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= доля маржи группы</a:t>
            </a:r>
            <a:endParaRPr lang="en-US" sz="19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не съест больше заданной части заработанного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790688" y="3026664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56448" y="2432304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5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57616" y="2560320"/>
            <a:ext cx="29809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Дробление на подкатегории</a:t>
            </a:r>
            <a:endParaRPr lang="en-US" sz="19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и слоты по лигам, ноль по марже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66928" y="4224528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FF5A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42245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кэшбэк по категориям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51376" y="4224528"/>
            <a:ext cx="3529584" cy="475488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51376" y="4224528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доступ к промо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82128" y="4224528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82128" y="42245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за ассортимент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4846320"/>
            <a:ext cx="2359152" cy="475488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484632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сезонное окно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27248" y="4846320"/>
            <a:ext cx="3090672" cy="475488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127248" y="4846320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кросс-сетевые очки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0807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Лиги — скелет: механика роста считается один раз, игровые слои поверх меняются под сезон, сегмент и бюджет.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Лиги экономии — питч</dc:title>
  <dc:subject>PptxGenJS Presentation</dc:subject>
  <dc:creator>Лиги экономии</dc:creator>
  <cp:lastModifiedBy>Лиги экономии</cp:lastModifiedBy>
  <cp:revision>1</cp:revision>
  <dcterms:created xsi:type="dcterms:W3CDTF">2026-09-06T17:37:29Z</dcterms:created>
  <dcterms:modified xsi:type="dcterms:W3CDTF">2026-09-06T17:37:29Z</dcterms:modified>
</cp:coreProperties>
</file>