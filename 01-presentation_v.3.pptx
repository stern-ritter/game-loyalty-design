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8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Участников</c:v>
                </c:pt>
              </c:strCache>
            </c:strRef>
          </c:tx>
          <c:spPr>
            <a:solidFill>
              <a:srgbClr val="FF5A00"/>
            </a:solidFill>
            <a:effectLst/>
          </c:spPr>
          <c:invertIfNegative val="0"/>
          <c:dLbls>
            <c:numFmt formatCode="#\ 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Бронза</c:v>
                </c:pt>
                <c:pt idx="1">
                  <c:v>Серебро</c:v>
                </c:pt>
                <c:pt idx="2">
                  <c:v>Золото</c:v>
                </c:pt>
                <c:pt idx="3">
                  <c:v>Платина</c:v>
                </c:pt>
                <c:pt idx="4">
                  <c:v>Рубин</c:v>
                </c:pt>
                <c:pt idx="5">
                  <c:v>Изумруд</c:v>
                </c:pt>
                <c:pt idx="6">
                  <c:v>Сапфир</c:v>
                </c:pt>
                <c:pt idx="7">
                  <c:v>Аметист</c:v>
                </c:pt>
                <c:pt idx="8">
                  <c:v>Обсидиан</c:v>
                </c:pt>
                <c:pt idx="9">
                  <c:v>Жемчуг</c:v>
                </c:pt>
                <c:pt idx="10">
                  <c:v>Алмаз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884</c:v>
                </c:pt>
                <c:pt idx="1">
                  <c:v>1384</c:v>
                </c:pt>
                <c:pt idx="2">
                  <c:v>1484</c:v>
                </c:pt>
                <c:pt idx="3">
                  <c:v>1469</c:v>
                </c:pt>
                <c:pt idx="4">
                  <c:v>1193</c:v>
                </c:pt>
                <c:pt idx="5">
                  <c:v>818</c:v>
                </c:pt>
                <c:pt idx="6">
                  <c:v>440</c:v>
                </c:pt>
                <c:pt idx="7">
                  <c:v>179</c:v>
                </c:pt>
                <c:pt idx="8">
                  <c:v>57</c:v>
                </c:pt>
                <c:pt idx="9">
                  <c:v>13</c:v>
                </c:pt>
                <c:pt idx="1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D2-47D5-BA60-6110286334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F636A"/>
                </a:solidFill>
                <a:latin typeface="Calibri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5341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не проговаривать — сразу к слайду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0:30. Формулу прочитать почти дословно. Не произносить «геймификация», «игровой слой», «движок».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0:30. Пауза после «Измерено» и после «Гипотеза» — эксперты должны услышать, что вы их разделяете.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1:05. Вход и действие. Про Аню как про человека, не как про юзкейс. Экран показать, не пересказывать.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1:05. Система, результат, ценность. Закончить на «вернулась не за скидкой».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0:30. Одно предложение на компонент. Ограничение назвать самим. Про отсутствие LLM: расчёт очков должен быть объяснимым, поэтому правила.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0:30. Главный слайд. Не оправдываться: проверили самое рискованное допущение, оно не подтвердилось. Сказать вслух, что ноль — это граница, а не запас.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0:40. Финальная фраза дословно: «Лиги экономии дают покупателю причину вернуться на этой неделе, а сети — частоту, которая не съедает маржу. Мы проверили это на восьми тысячах профилей. Следующий шаг — начислять за прирост над личной базой: по расчёту это выводит конструкцию из нуля в плюс. Для пилота нам нужны обезличенные чеки за полгода.»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на «сколько лиг и работают ли верхние».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на «что если маржа ниже» и «что если отклика не будет».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на «как отличаете накрутку» и «а если заблокируете честного».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на «чем вы лучше существующих игр в ритейле».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на «а если у сети нет бюджета на кэшбэк».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на «покажите второй движок на этом скелете».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1371600" cy="118872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214884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6800"/>
              </a:lnSpc>
              <a:buNone/>
            </a:pPr>
            <a:r>
              <a:rPr lang="en-US" sz="6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Лиги</a:t>
            </a:r>
            <a:endParaRPr lang="en-US" sz="6600" dirty="0"/>
          </a:p>
          <a:p>
            <a:pPr marL="0" indent="0">
              <a:lnSpc>
                <a:spcPts val="6800"/>
              </a:lnSpc>
              <a:buNone/>
            </a:pPr>
            <a:r>
              <a:rPr lang="en-US" sz="6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экономии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26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Игровой слой поверх программы лояльности X5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1996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938528" y="619963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питч · 3:00 вопросы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6184" y="2926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EFF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49808"/>
            <a:ext cx="100492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Соревнование в </a:t>
            </a:r>
            <a:r>
              <a:rPr lang="ru-RU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группе</a:t>
            </a: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где приз — условия на следующий месяц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11055096" cy="3200400"/>
          </a:xfrm>
          <a:prstGeom prst="roundRect">
            <a:avLst>
              <a:gd name="adj" fmla="val 3429"/>
            </a:avLst>
          </a:prstGeom>
          <a:solidFill>
            <a:srgbClr val="0000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4128" y="2606040"/>
            <a:ext cx="101406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создали </a:t>
            </a:r>
            <a:r>
              <a:rPr lang="en-US" sz="28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«Лиги экономии»</a:t>
            </a: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для </a:t>
            </a:r>
            <a:r>
              <a:rPr lang="en-US" sz="28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покупателей «Пятёрочки» и «Перекрёстка»</a:t>
            </a:r>
            <a:r>
              <a:rPr lang="ru-RU" sz="28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28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ru-RU" sz="28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Чижика»</a:t>
            </a: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игровой слой поверх программы лояльности X5, который превращает регулярные покупки в </a:t>
            </a:r>
            <a:r>
              <a:rPr lang="ru-RU" sz="28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ежемесячное соревнование внутри группы похожих покупателей. 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1996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0:00–0:30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938528" y="619963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· пользователь · проблема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6184" y="2926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EFF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49808"/>
            <a:ext cx="111531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</a:t>
            </a:r>
            <a:r>
              <a:rPr lang="ru-RU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кидка работает разово</a:t>
            </a: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ru-RU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соревнование за </a:t>
            </a:r>
            <a:r>
              <a:rPr lang="ru-RU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</a:rPr>
              <a:t>расширенные условия программы лояльности</a:t>
            </a: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каждый месяц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3502152" cy="3200400"/>
          </a:xfrm>
          <a:prstGeom prst="roundRect">
            <a:avLst>
              <a:gd name="adj" fmla="val 3429"/>
            </a:avLst>
          </a:prstGeom>
          <a:solidFill>
            <a:srgbClr val="F1F2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606040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меняется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41247" y="3282696"/>
            <a:ext cx="3071991" cy="184974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ts val="2500"/>
              </a:lnSpc>
              <a:buNone/>
            </a:pPr>
            <a:r>
              <a:rPr lang="ru-RU" sz="19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Соревнование с другими покупателями за постоянные условия вместо</a:t>
            </a:r>
            <a:r>
              <a:rPr lang="en-US" sz="19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9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разовых скидок</a:t>
            </a:r>
            <a:r>
              <a:rPr lang="en-US" sz="19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Место в группе видно, условия можно потерять.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3400" y="2331720"/>
            <a:ext cx="3502152" cy="3200400"/>
          </a:xfrm>
          <a:prstGeom prst="roundRect">
            <a:avLst>
              <a:gd name="adj" fmla="val 3429"/>
            </a:avLst>
          </a:prstGeom>
          <a:solidFill>
            <a:srgbClr val="F1F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2606040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пользуется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282696"/>
            <a:ext cx="2953512" cy="12204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ts val="2500"/>
              </a:lnSpc>
              <a:buNone/>
            </a:pPr>
            <a:r>
              <a:rPr lang="en-US" sz="19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Держатель карты лояльности. </a:t>
            </a:r>
            <a:r>
              <a:rPr lang="ru-RU" sz="19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Возвращается</a:t>
            </a:r>
            <a:r>
              <a:rPr lang="en-US" sz="19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9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регулярно</a:t>
            </a:r>
            <a:r>
              <a:rPr lang="en-US" sz="19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без push-уведомления.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19872" y="2331720"/>
            <a:ext cx="3502152" cy="3200400"/>
          </a:xfrm>
          <a:prstGeom prst="roundRect">
            <a:avLst>
              <a:gd name="adj" fmla="val 3429"/>
            </a:avLst>
          </a:prstGeom>
          <a:solidFill>
            <a:srgbClr val="0000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94192" y="2606040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доказано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94192" y="3099815"/>
            <a:ext cx="2805631" cy="18631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ts val="2500"/>
              </a:lnSpc>
            </a:pPr>
            <a:r>
              <a:rPr lang="en-US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Измерено: награда не съедает маржу. 8 000 профилей, 416 230 </a:t>
            </a:r>
            <a:r>
              <a:rPr lang="ru-RU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чеков, 6 665 магазинов</a:t>
            </a:r>
            <a:r>
              <a:rPr lang="en-US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ts val="2500"/>
              </a:lnSpc>
              <a:buNone/>
            </a:pPr>
            <a:r>
              <a:rPr lang="ru-RU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</a:t>
            </a:r>
            <a:r>
              <a:rPr lang="en-US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прирост частоты. Меряет пилот.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61996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0:30–1:00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938528" y="616305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метрика: частота выше N без падения маржи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6184" y="2926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EFF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 · ВХОД И ДЕЙСТВИЕ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49808"/>
            <a:ext cx="100492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000"/>
              </a:lnSpc>
              <a:buNone/>
            </a:pPr>
            <a:r>
              <a:rPr lang="ru-RU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Приложение говорит</a:t>
            </a: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ru-RU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</a:t>
            </a: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сделать</a:t>
            </a: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а не предлагает скидку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F1F2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54203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Золотая лига · группа 26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675888" y="25420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дней до конца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41248" y="2971800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2971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место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29718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41248" y="3429000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34290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Аня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34290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604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41248" y="3886200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3886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место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90288" y="38862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598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41248" y="4343400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FE0C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" y="4343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A2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зона вылета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90288" y="43434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8A2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558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41248" y="4864608"/>
            <a:ext cx="4846320" cy="457200"/>
          </a:xfrm>
          <a:prstGeom prst="roundRect">
            <a:avLst>
              <a:gd name="adj" fmla="val 14000"/>
            </a:avLst>
          </a:prstGeom>
          <a:solidFill>
            <a:srgbClr val="FF5A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78408" y="4864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безопасной зоны 46 очков — один поход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19088" y="2331720"/>
            <a:ext cx="520293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Вход. </a:t>
            </a:r>
            <a:r>
              <a:rPr lang="en-US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Аня седьмая из двадцати шести, до вылета 46 очков.</a:t>
            </a:r>
            <a:endParaRPr lang="en-US" sz="2100" dirty="0"/>
          </a:p>
          <a:p>
            <a:pPr marL="0" indent="0">
              <a:lnSpc>
                <a:spcPts val="3000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Действие. </a:t>
            </a:r>
            <a:r>
              <a:rPr lang="en-US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Идёт в «Пятёрочку» у дома в субботу.</a:t>
            </a:r>
            <a:endParaRPr lang="en-US" sz="2100" dirty="0"/>
          </a:p>
          <a:p>
            <a:pPr marL="0" indent="0">
              <a:lnSpc>
                <a:spcPts val="3000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пошла. </a:t>
            </a:r>
            <a:r>
              <a:rPr lang="en-US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«скидка на йогурт», а «</a:t>
            </a:r>
            <a:r>
              <a:rPr lang="ru-RU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потеряешь</a:t>
            </a:r>
            <a:r>
              <a:rPr lang="en-US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выгодные условия на следующий месяц</a:t>
            </a:r>
            <a:r>
              <a:rPr lang="en-US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».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1996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1:00–2:05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938528" y="619963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сценарий, один человек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6184" y="2926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EFF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 · СИСТЕМА И РЕЗУЛЬТАТ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49808"/>
            <a:ext cx="105978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000"/>
              </a:lnSpc>
              <a:buNone/>
            </a:pPr>
            <a:r>
              <a:rPr lang="ru-RU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Месяц</a:t>
            </a: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завершился</a:t>
            </a: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</a:t>
            </a:r>
            <a:r>
              <a:rPr lang="ru-RU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условия</a:t>
            </a: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</a:t>
            </a: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следующий</a:t>
            </a: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определены</a:t>
            </a: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автоматически исходя из активности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331720"/>
            <a:ext cx="5577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Система. </a:t>
            </a:r>
            <a:r>
              <a:rPr lang="en-US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Чеки → очки за сумму и регулярность → </a:t>
            </a:r>
            <a:r>
              <a:rPr lang="ru-RU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в группе</a:t>
            </a:r>
            <a:r>
              <a:rPr lang="en-US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ru-RU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в новую лигу</a:t>
            </a:r>
            <a:r>
              <a:rPr lang="en-US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  <a:p>
            <a:pPr marL="0" indent="0">
              <a:lnSpc>
                <a:spcPts val="3000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Результат. </a:t>
            </a:r>
            <a:r>
              <a:rPr lang="ru-RU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Аня перешла в следующую лигу</a:t>
            </a:r>
            <a:r>
              <a:rPr lang="en-US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ru-RU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выбирает</a:t>
            </a:r>
            <a:r>
              <a:rPr lang="en-US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одну категорию</a:t>
            </a:r>
            <a:r>
              <a:rPr lang="en-US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кэшбека больше</a:t>
            </a:r>
            <a:r>
              <a:rPr lang="en-US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  <a:p>
            <a:pPr marL="0" indent="0">
              <a:lnSpc>
                <a:spcPts val="3000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Ценность. </a:t>
            </a:r>
            <a:r>
              <a:rPr lang="en-US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Вернулась не за скидкой, а </a:t>
            </a:r>
            <a:r>
              <a:rPr lang="ru-RU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</a:t>
            </a:r>
            <a:r>
              <a:rPr lang="en-US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потерять</a:t>
            </a:r>
            <a:r>
              <a:rPr lang="en-US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выгодные условия</a:t>
            </a:r>
            <a:r>
              <a:rPr lang="en-US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601968" y="2331720"/>
            <a:ext cx="5020056" cy="3200400"/>
          </a:xfrm>
          <a:prstGeom prst="roundRect">
            <a:avLst>
              <a:gd name="adj" fmla="val 3429"/>
            </a:avLst>
          </a:prstGeom>
          <a:solidFill>
            <a:srgbClr val="F1F2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76288" y="2542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месяца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884664" y="25420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из 26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76288" y="3063240"/>
            <a:ext cx="4471416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040880" y="306324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сумму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067544" y="306324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76288" y="3566160"/>
            <a:ext cx="4471416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40880" y="356616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регулярность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067544" y="356616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76288" y="4069080"/>
            <a:ext cx="4471416" cy="420624"/>
          </a:xfrm>
          <a:prstGeom prst="roundRect">
            <a:avLst>
              <a:gd name="adj" fmla="val 13043"/>
            </a:avLst>
          </a:prstGeom>
          <a:solidFill>
            <a:srgbClr val="000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40880" y="406908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подтверждён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0067544" y="40690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Золото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76288" y="4864608"/>
            <a:ext cx="4471416" cy="457200"/>
          </a:xfrm>
          <a:prstGeom prst="roundRect">
            <a:avLst>
              <a:gd name="adj" fmla="val 14000"/>
            </a:avLst>
          </a:prstGeom>
          <a:solidFill>
            <a:srgbClr val="FF5A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13448" y="4864608"/>
            <a:ext cx="4197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месяц: 5 подкатегорий вместо 4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1996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2:05–3:10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938528" y="619963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ситуации до результата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6184" y="2926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EFF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ТЕХНИКА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49808"/>
            <a:ext cx="100492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Правила, а не модель: участник должен понимать, </a:t>
            </a:r>
            <a:r>
              <a:rPr lang="ru-RU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</a:t>
            </a: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</a:t>
            </a: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получает</a:t>
            </a: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очки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2212848"/>
            <a:ext cx="2286000" cy="1234440"/>
          </a:xfrm>
          <a:prstGeom prst="roundRect">
            <a:avLst>
              <a:gd name="adj" fmla="val 7407"/>
            </a:avLst>
          </a:prstGeom>
          <a:solidFill>
            <a:srgbClr val="F1F2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2340864"/>
            <a:ext cx="18836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Чеки</a:t>
            </a:r>
            <a:endParaRPr lang="en-US" sz="19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сумма, </a:t>
            </a:r>
            <a:r>
              <a:rPr lang="ru-RU" sz="16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и </a:t>
            </a:r>
            <a:r>
              <a:rPr lang="en-US" sz="16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время, магазин, категории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2871216" y="26517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163824" y="2212848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F5A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64992" y="2340864"/>
            <a:ext cx="30266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Движок очков</a:t>
            </a:r>
            <a:endParaRPr lang="en-US" sz="19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 err="1">
                <a:solidFill>
                  <a:srgbClr val="F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вогнутая</a:t>
            </a:r>
            <a:r>
              <a:rPr lang="en-US" sz="1600" dirty="0">
                <a:solidFill>
                  <a:srgbClr val="F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>
                <a:solidFill>
                  <a:srgbClr val="F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суммы</a:t>
            </a:r>
            <a:r>
              <a:rPr lang="en-US" sz="1600" dirty="0">
                <a:solidFill>
                  <a:srgbClr val="F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F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потолок</a:t>
            </a:r>
            <a:r>
              <a:rPr lang="ru-RU" sz="1600" dirty="0">
                <a:solidFill>
                  <a:srgbClr val="F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суммы</a:t>
            </a:r>
            <a:r>
              <a:rPr lang="en-US" sz="1600" dirty="0">
                <a:solidFill>
                  <a:srgbClr val="F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регулярность. Антифрод в правилах зачёта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611112" y="26517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903720" y="2212848"/>
            <a:ext cx="2286000" cy="1234440"/>
          </a:xfrm>
          <a:prstGeom prst="roundRect">
            <a:avLst>
              <a:gd name="adj" fmla="val 7407"/>
            </a:avLst>
          </a:prstGeom>
          <a:solidFill>
            <a:srgbClr val="F1F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04888" y="2340864"/>
            <a:ext cx="18836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группы</a:t>
            </a:r>
            <a:endParaRPr lang="en-US" sz="19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сегмент, город, частота, </a:t>
            </a:r>
            <a:r>
              <a:rPr lang="ru-RU" sz="16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</a:t>
            </a:r>
            <a:r>
              <a:rPr lang="en-US" sz="16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</a:t>
            </a:r>
            <a:r>
              <a:rPr lang="ru-RU" sz="16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9208008" y="26517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500616" y="2212848"/>
            <a:ext cx="2286000" cy="1234440"/>
          </a:xfrm>
          <a:prstGeom prst="roundRect">
            <a:avLst>
              <a:gd name="adj" fmla="val 7407"/>
            </a:avLst>
          </a:prstGeom>
          <a:solidFill>
            <a:srgbClr val="F1F2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701783" y="2340864"/>
            <a:ext cx="1998603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месяца</a:t>
            </a:r>
            <a:endParaRPr lang="en-US" sz="19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переходы и </a:t>
            </a:r>
            <a:r>
              <a:rPr lang="ru-RU" sz="16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актуализация</a:t>
            </a:r>
            <a:r>
              <a:rPr lang="en-US" sz="16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условий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66928" y="3657600"/>
            <a:ext cx="3502152" cy="1874520"/>
          </a:xfrm>
          <a:prstGeom prst="roundRect">
            <a:avLst>
              <a:gd name="adj" fmla="val 5854"/>
            </a:avLst>
          </a:prstGeom>
          <a:solidFill>
            <a:srgbClr val="F1F2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3954272"/>
            <a:ext cx="3044952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827059" y="4558284"/>
            <a:ext cx="315058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ru-RU" sz="17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</a:t>
            </a:r>
            <a:r>
              <a:rPr lang="en-US" sz="17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7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блокировки на основе аналитики</a:t>
            </a:r>
            <a:r>
              <a:rPr lang="en-US" sz="17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Четыре объяснимых правила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343400" y="3657600"/>
            <a:ext cx="3502152" cy="1874520"/>
          </a:xfrm>
          <a:prstGeom prst="roundRect">
            <a:avLst>
              <a:gd name="adj" fmla="val 5854"/>
            </a:avLst>
          </a:prstGeom>
          <a:solidFill>
            <a:srgbClr val="F1F2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99432" y="3931920"/>
            <a:ext cx="3044952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144 ₽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4695952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ru-RU" sz="17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разброс</a:t>
            </a:r>
            <a:r>
              <a:rPr lang="en-US" sz="17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7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среднего чека</a:t>
            </a:r>
            <a:r>
              <a:rPr lang="en-US" sz="17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группе против 412 ₽ по лиге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119872" y="3657600"/>
            <a:ext cx="3502152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75904" y="3931920"/>
            <a:ext cx="3044952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8375904" y="4508500"/>
            <a:ext cx="3145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ru-RU" sz="17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случаев сговора определено</a:t>
            </a:r>
            <a:r>
              <a:rPr lang="en-US" sz="17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7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сговор</a:t>
            </a:r>
            <a:r>
              <a:rPr lang="en-US" sz="17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</a:t>
            </a:r>
            <a:r>
              <a:rPr lang="ru-RU" sz="17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группе не определяется алгоритмами</a:t>
            </a:r>
            <a:r>
              <a:rPr lang="en-US" sz="17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ru-RU" sz="17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нужна </a:t>
            </a:r>
            <a:r>
              <a:rPr lang="en-US" sz="17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r>
              <a:rPr lang="ru-RU" sz="17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-модель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1996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3:10–3:40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938528" y="619963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так · вклад команды · ограничение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6184" y="2926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EFF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ДОКАЗАТЕЛЬСТВО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49808"/>
            <a:ext cx="100492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000"/>
              </a:lnSpc>
              <a:buNone/>
            </a:pPr>
            <a:r>
              <a:rPr lang="ru-RU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Первая</a:t>
            </a: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конструкция</a:t>
            </a: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награды</a:t>
            </a: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была</a:t>
            </a: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убыточной</a:t>
            </a: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</a:t>
            </a: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участников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3502152" cy="3200400"/>
          </a:xfrm>
          <a:prstGeom prst="roundRect">
            <a:avLst>
              <a:gd name="adj" fmla="val 3429"/>
            </a:avLst>
          </a:prstGeom>
          <a:solidFill>
            <a:srgbClr val="F1F2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60604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 · ЕДИНАЯ СТАВКА 5%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35224"/>
            <a:ext cx="30449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−20,6 ₽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941064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9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участника в месяц. Нужен рост оборота 2,5–7,9%, заложено 2,0–7,0%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43400" y="2331720"/>
            <a:ext cx="3502152" cy="3200400"/>
          </a:xfrm>
          <a:prstGeom prst="roundRect">
            <a:avLst>
              <a:gd name="adj" fmla="val 3429"/>
            </a:avLst>
          </a:prstGeom>
          <a:solidFill>
            <a:srgbClr val="FF5A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260604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 · СТАВКА = ДОЛЯ МАРЖИ ГРУППЫ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935224"/>
            <a:ext cx="30449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−0,06 ₽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941064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900" dirty="0">
                <a:solidFill>
                  <a:srgbClr val="F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награда 79,8 ₽ против прироста маржи 79,7 ₽. </a:t>
            </a:r>
            <a:r>
              <a:rPr lang="en-US" sz="1900" dirty="0" err="1">
                <a:solidFill>
                  <a:srgbClr val="F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</a:t>
            </a:r>
            <a:r>
              <a:rPr lang="en-US" sz="1900" dirty="0">
                <a:solidFill>
                  <a:srgbClr val="F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900" dirty="0">
                <a:solidFill>
                  <a:srgbClr val="F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в 0</a:t>
            </a:r>
            <a:r>
              <a:rPr lang="en-US" sz="1900" dirty="0">
                <a:solidFill>
                  <a:srgbClr val="F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ru-RU" sz="1900" dirty="0">
                <a:solidFill>
                  <a:srgbClr val="F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без запаса прочности</a:t>
            </a:r>
            <a:r>
              <a:rPr lang="en-US" sz="1900" dirty="0">
                <a:solidFill>
                  <a:srgbClr val="F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119872" y="2331720"/>
            <a:ext cx="3502152" cy="3200400"/>
          </a:xfrm>
          <a:prstGeom prst="roundRect">
            <a:avLst>
              <a:gd name="adj" fmla="val 3429"/>
            </a:avLst>
          </a:prstGeom>
          <a:solidFill>
            <a:srgbClr val="0000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94192" y="2606040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Условия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94192" y="3282696"/>
            <a:ext cx="32278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ts val="2500"/>
              </a:lnSpc>
            </a:pPr>
            <a:r>
              <a:rPr lang="en-US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Синтетика: 8 000 профилей, 416 230 </a:t>
            </a:r>
            <a:r>
              <a:rPr lang="ru-RU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чеков, 6 665 магазинов</a:t>
            </a:r>
            <a:r>
              <a:rPr lang="en-US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5 </a:t>
            </a:r>
            <a:r>
              <a:rPr lang="ru-RU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месячных циклов</a:t>
            </a:r>
            <a:r>
              <a:rPr lang="en-US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Отклик на механику и маржа по группам — допущения, </a:t>
            </a:r>
            <a:r>
              <a:rPr lang="ru-RU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 данные</a:t>
            </a:r>
            <a:r>
              <a:rPr lang="en-US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1996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3:40–4:10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938528" y="619963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 · сравнение · условия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6184" y="2926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EFF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И СЛЕДУЮЩИЙ ШАГ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49808"/>
            <a:ext cx="100492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000"/>
              </a:lnSpc>
              <a:buNone/>
            </a:pPr>
            <a:r>
              <a:rPr lang="ru-RU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Дальнейшие шаги по развитию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3502152" cy="3200400"/>
          </a:xfrm>
          <a:prstGeom prst="roundRect">
            <a:avLst>
              <a:gd name="adj" fmla="val 3429"/>
            </a:avLst>
          </a:prstGeom>
          <a:solidFill>
            <a:srgbClr val="F1F2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606040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Сделано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110386"/>
            <a:ext cx="2953512" cy="17895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ts val="2500"/>
              </a:lnSpc>
              <a:buNone/>
            </a:pPr>
            <a:r>
              <a:rPr lang="en-US" sz="19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Движок очков, подбор групп, месячный расчёт, экономика, антифрод. Прототип на четырёх экранах.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3400" y="2331720"/>
            <a:ext cx="3502152" cy="3200400"/>
          </a:xfrm>
          <a:prstGeom prst="roundRect">
            <a:avLst>
              <a:gd name="adj" fmla="val 3429"/>
            </a:avLst>
          </a:prstGeom>
          <a:solidFill>
            <a:srgbClr val="F1F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2606040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Проверено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282695"/>
            <a:ext cx="3138914" cy="190731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ts val="2500"/>
              </a:lnSpc>
              <a:buNone/>
            </a:pPr>
            <a:r>
              <a:rPr lang="en-US" sz="19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 на синтетике: результат отрицательный, </a:t>
            </a:r>
            <a:r>
              <a:rPr lang="ru-RU" sz="19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конструкция</a:t>
            </a:r>
            <a:r>
              <a:rPr lang="en-US" sz="19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9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игрового слоя перенастроена</a:t>
            </a:r>
            <a:r>
              <a:rPr lang="en-US" sz="19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9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сбалансирована в безубыточность</a:t>
            </a:r>
            <a:r>
              <a:rPr lang="en-US" sz="19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19872" y="2331720"/>
            <a:ext cx="3502152" cy="3200400"/>
          </a:xfrm>
          <a:prstGeom prst="roundRect">
            <a:avLst>
              <a:gd name="adj" fmla="val 3429"/>
            </a:avLst>
          </a:prstGeom>
          <a:solidFill>
            <a:srgbClr val="0000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94192" y="2606040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Планируется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94192" y="3282696"/>
            <a:ext cx="2953512" cy="21469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ts val="2500"/>
              </a:lnSpc>
              <a:buNone/>
            </a:pPr>
            <a:endParaRPr lang="ru-RU" sz="1900" dirty="0">
              <a:solidFill>
                <a:srgbClr val="D8D8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2500"/>
              </a:lnSpc>
              <a:buNone/>
            </a:pPr>
            <a:endParaRPr lang="ru-RU" sz="1900" dirty="0">
              <a:solidFill>
                <a:srgbClr val="D8D8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2500"/>
              </a:lnSpc>
              <a:buNone/>
            </a:pPr>
            <a:endParaRPr lang="ru-RU" sz="1900" dirty="0">
              <a:solidFill>
                <a:srgbClr val="D8D8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2500"/>
              </a:lnSpc>
              <a:buNone/>
            </a:pPr>
            <a:endParaRPr lang="ru-RU" sz="1900" dirty="0">
              <a:solidFill>
                <a:srgbClr val="D8D8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2500"/>
              </a:lnSpc>
              <a:buNone/>
            </a:pPr>
            <a:r>
              <a:rPr lang="ru-RU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Расчеты на реальных данных</a:t>
            </a:r>
            <a:r>
              <a:rPr lang="en-US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ru-RU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Пилот</a:t>
            </a:r>
            <a:r>
              <a:rPr lang="en-US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</a:t>
            </a:r>
            <a:r>
              <a:rPr lang="ru-RU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сотрудниках компании</a:t>
            </a:r>
            <a:r>
              <a:rPr lang="en-US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четыре недели. Критерий — </a:t>
            </a:r>
            <a:r>
              <a:rPr lang="ru-RU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повышение частоты покупок</a:t>
            </a:r>
            <a:r>
              <a:rPr lang="en-US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без падения маржи.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61996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4:10–4:50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938528" y="619963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финальная фраза — дословно, 13 секунд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2148840" cy="42062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2743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616184" y="2926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FFD9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ПО ЛИГАМ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25880"/>
            <a:ext cx="10049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Верхние</a:t>
            </a: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</a:t>
            </a: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лиги</a:t>
            </a: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включают</a:t>
            </a: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0,9% участников</a:t>
            </a:r>
            <a:endParaRPr lang="en-US" sz="3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66928" y="2395728"/>
          <a:ext cx="11055096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66928" y="6044184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Конец</a:t>
            </a: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пятого</a:t>
            </a: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месячного </a:t>
            </a: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цикла, 7 897 участников. </a:t>
            </a:r>
            <a:r>
              <a:rPr lang="ru-RU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вылета</a:t>
            </a: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участников </a:t>
            </a: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трёх верхних лиг — 56,2%.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2148840" cy="42062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2743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616184" y="2926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FFD9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УСТОЙЧИВОСТЬ ЭКОНОМИКИ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25880"/>
            <a:ext cx="10049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Едина</a:t>
            </a: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ставка</a:t>
            </a: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кэшбека на все категории выходит</a:t>
            </a: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в плюс только выше базового допущения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341290"/>
              </p:ext>
            </p:extLst>
          </p:nvPr>
        </p:nvGraphicFramePr>
        <p:xfrm>
          <a:off x="566928" y="2432304"/>
          <a:ext cx="11055096" cy="27432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3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Отклик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маржа 16%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×0,5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−65,8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−62,5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−59,3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−56,1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−51,2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−46,4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×0,75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−52,9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−48,0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−43,2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−38,3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−31,1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−23,8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×1,0 базовое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−40,0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−33,5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−27,1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−20,6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−10,9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×1,25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−27,1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−19,0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−10,9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×1,5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−14,2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−4,5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66928" y="619963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сети на участника в месяц, ₽. Поэтому ставка перепривязана к </a:t>
            </a:r>
            <a:r>
              <a:rPr lang="ru-RU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марже конкретной</a:t>
            </a: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категории</a:t>
            </a: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2148840" cy="42062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2743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616184" y="2926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FFD9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АНТИФРОД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25880"/>
            <a:ext cx="10049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</a:t>
            </a: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точных</a:t>
            </a: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</a:t>
            </a: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блокировки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369034"/>
              </p:ext>
            </p:extLst>
          </p:nvPr>
        </p:nvGraphicFramePr>
        <p:xfrm>
          <a:off x="566928" y="2468880"/>
          <a:ext cx="5577840" cy="2809240"/>
        </p:xfrm>
        <a:graphic>
          <a:graphicData uri="http://schemas.openxmlformats.org/drawingml/2006/table">
            <a:tbl>
              <a:tblPr/>
              <a:tblGrid>
                <a:gridCol w="1936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501">
                  <a:extLst>
                    <a:ext uri="{9D8B030D-6E8A-4147-A177-3AD203B41FA5}">
                      <a16:colId xmlns:a16="http://schemas.microsoft.com/office/drawing/2014/main" val="937023887"/>
                    </a:ext>
                  </a:extLst>
                </a:gridCol>
                <a:gridCol w="19182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800" b="1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Правило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buNone/>
                      </a:pPr>
                      <a:r>
                        <a:rPr lang="ru-RU" sz="1800" b="1" kern="1200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Всего</a:t>
                      </a:r>
                      <a:endParaRPr lang="en-US" sz="1800" b="1" kern="1200" dirty="0">
                        <a:solidFill>
                          <a:srgbClr val="5F636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ru-RU" sz="1800" b="1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Помечено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Дробление чеков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Мелкие чеки подряд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800" dirty="0">
                          <a:latin typeface="Calibri" charset="0"/>
                          <a:ea typeface="Calibri" charset="0"/>
                          <a:cs typeface="Calibri" charset="0"/>
                        </a:rPr>
                        <a:t>104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Несовместимая география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800" dirty="0">
                          <a:latin typeface="Calibri" charset="0"/>
                          <a:ea typeface="Calibri" charset="0"/>
                          <a:cs typeface="Calibri" charset="0"/>
                        </a:rPr>
                        <a:t>48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ru-RU" sz="1800" dirty="0">
                          <a:latin typeface="Calibri" charset="0"/>
                          <a:ea typeface="Calibri" charset="0"/>
                          <a:cs typeface="Calibri" charset="0"/>
                        </a:rPr>
                        <a:t>48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Сговор в группе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800" dirty="0">
                          <a:latin typeface="Calibri" charset="0"/>
                          <a:ea typeface="Calibri" charset="0"/>
                          <a:cs typeface="Calibri" charset="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</a:t>
                      </a:r>
                      <a:r>
                        <a:rPr lang="ru-RU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747009" y="2412282"/>
            <a:ext cx="4471417" cy="2834640"/>
          </a:xfrm>
          <a:prstGeom prst="roundRect">
            <a:avLst>
              <a:gd name="adj" fmla="val 3871"/>
            </a:avLst>
          </a:prstGeom>
          <a:solidFill>
            <a:srgbClr val="F1F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4848" y="2468880"/>
            <a:ext cx="40451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Порог словами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898991" y="2693381"/>
            <a:ext cx="40451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ts val="2500"/>
              </a:lnSpc>
              <a:buNone/>
            </a:pPr>
            <a:r>
              <a:rPr lang="en-US" sz="17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Начисление приостанавливается, если выполнено хотя бы одно: больше трёх чеков за день; больше десятой части чеков в одном магазине с интервалом меньше сорока минут; больше половины чеков ниже ста рублей; покупки в двух городах за день.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619963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Сговор</a:t>
            </a: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</a:t>
            </a:r>
            <a:r>
              <a:rPr lang="ru-RU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группе</a:t>
            </a: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 определять</a:t>
            </a: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ru-RU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нужна отдельная </a:t>
            </a: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r>
              <a:rPr lang="ru-RU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-модель</a:t>
            </a: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2148840" cy="42062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2743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616184" y="2926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FFD9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A4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7" y="1627000"/>
            <a:ext cx="11181536" cy="704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</a:rPr>
              <a:t>Есть баллы, промоакции и отдельные игровые механики — задания, игры.  Цельного игрового слоя нет</a:t>
            </a: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</a:rPr>
              <a:t>.</a:t>
            </a:r>
            <a:endParaRPr lang="ru-RU" sz="3200" b="1" dirty="0">
              <a:solidFill>
                <a:srgbClr val="000000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buNone/>
            </a:pP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804421"/>
              </p:ext>
            </p:extLst>
          </p:nvPr>
        </p:nvGraphicFramePr>
        <p:xfrm>
          <a:off x="566928" y="2432304"/>
          <a:ext cx="11055096" cy="22860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3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Аналог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Чего не закрывает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«Холодильник выгоды», X5 Клуб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Механика одна на всех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«Пандагочи», Самокат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Сезонный проект, нет локального рейтинга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«Твой Перекрёсток»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Рейтинг федеральный, а 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«соседский»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«Играй, лето продлевай!», Магнит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Привязка к спонсорам, а не к экономике покупателя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22785" y="4841748"/>
            <a:ext cx="11055096" cy="868680"/>
          </a:xfrm>
          <a:prstGeom prst="roundRect">
            <a:avLst>
              <a:gd name="adj" fmla="val 10526"/>
            </a:avLst>
          </a:prstGeom>
          <a:solidFill>
            <a:srgbClr val="F1F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02512" y="4877851"/>
            <a:ext cx="10506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Отстройка: </a:t>
            </a:r>
            <a:r>
              <a:rPr lang="en-US" sz="18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награда — условия на месяц, а </a:t>
            </a:r>
            <a:r>
              <a:rPr lang="ru-RU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разовая награда</a:t>
            </a:r>
            <a:r>
              <a:rPr lang="en-US" sz="18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ru-RU" sz="18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</a:t>
            </a:r>
            <a:r>
              <a:rPr lang="en-US" sz="18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8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похожих покупателей</a:t>
            </a:r>
            <a:r>
              <a:rPr lang="en-US" sz="18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а </a:t>
            </a:r>
            <a:r>
              <a:rPr lang="ru-RU" sz="18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sz="18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8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федеральный рейтинг</a:t>
            </a:r>
            <a:r>
              <a:rPr lang="en-US" sz="18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экономика и антифрод посчитаны до пилота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2148840" cy="42062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2743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616184" y="2926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FFD9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A5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НЕМАТЕРИАЛЬНЫЕ НАГРАДЫ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7" y="1325880"/>
            <a:ext cx="112193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Треть</a:t>
            </a: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участников</a:t>
            </a: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нижних лигах получает</a:t>
            </a: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меньше 20 ₽ — </a:t>
            </a:r>
            <a:r>
              <a:rPr lang="ru-RU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там</a:t>
            </a: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дополнительно должны</a:t>
            </a: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работать</a:t>
            </a: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другие награды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66928" y="2450592"/>
            <a:ext cx="2558034" cy="2660904"/>
          </a:xfrm>
          <a:prstGeom prst="roundRect">
            <a:avLst>
              <a:gd name="adj" fmla="val 4290"/>
            </a:avLst>
          </a:prstGeom>
          <a:solidFill>
            <a:srgbClr val="F1F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7" y="2724912"/>
            <a:ext cx="212266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Ранний доступ к промоакциям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145536"/>
            <a:ext cx="21226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ts val="2500"/>
              </a:lnSpc>
              <a:buNone/>
            </a:pPr>
            <a:r>
              <a:rPr lang="en-US" sz="17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на акции растёт с лигой: 2 часа → сутки.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402711" y="2450592"/>
            <a:ext cx="2558034" cy="2670048"/>
          </a:xfrm>
          <a:prstGeom prst="roundRect">
            <a:avLst>
              <a:gd name="adj" fmla="val 4290"/>
            </a:avLst>
          </a:prstGeom>
          <a:solidFill>
            <a:srgbClr val="F1F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77031" y="2724912"/>
            <a:ext cx="21309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Голосование</a:t>
            </a: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за ассортимент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677031" y="3145536"/>
            <a:ext cx="200939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ts val="2500"/>
              </a:lnSpc>
              <a:buNone/>
            </a:pPr>
            <a:r>
              <a:rPr lang="en-US" sz="17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ВкусВилл так решает судьбу новинок.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31257" y="2450592"/>
            <a:ext cx="2635270" cy="2670048"/>
          </a:xfrm>
          <a:prstGeom prst="roundRect">
            <a:avLst>
              <a:gd name="adj" fmla="val 4290"/>
            </a:avLst>
          </a:prstGeom>
          <a:solidFill>
            <a:srgbClr val="FF5A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87792" y="2679980"/>
            <a:ext cx="2408736" cy="49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Отчёт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о</a:t>
            </a:r>
            <a:r>
              <a:rPr lang="ru-RU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затратах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экономии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505577" y="3108960"/>
            <a:ext cx="200939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ts val="2500"/>
              </a:lnSpc>
              <a:buNone/>
            </a:pPr>
            <a:r>
              <a:rPr lang="en-US" sz="1700" dirty="0">
                <a:solidFill>
                  <a:srgbClr val="F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«Календаря выгоды» X5 с года на сезон.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19963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Предельная</a:t>
            </a: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</a:t>
            </a: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всех</a:t>
            </a: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трех</a:t>
            </a: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близка к нулю, все реализуемы внутри приложения и системы лояльности.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2148840" cy="42062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2743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616184" y="2926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FFD9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A6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РАСШИРЯЕМОСТЬ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25880"/>
            <a:ext cx="10049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Награду переделали трижды — движок очков не тронули ни разу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66928" y="2432304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2560320"/>
            <a:ext cx="29809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ru-RU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</a:t>
            </a: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</a:t>
            </a: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кэшбека </a:t>
            </a: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9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</a:t>
            </a:r>
            <a:r>
              <a:rPr lang="ru-RU" sz="16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быточно</a:t>
            </a:r>
            <a:r>
              <a:rPr lang="en-US" sz="16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6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r>
              <a:rPr lang="en-US" sz="16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участников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995928" y="3026664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61688" y="2432304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62856" y="2560320"/>
            <a:ext cx="29809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 = доля маржи группы</a:t>
            </a:r>
            <a:endParaRPr lang="en-US" sz="19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награда не съест больше заданной части заработанного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790688" y="3026664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156448" y="2432304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FF5A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57616" y="2560320"/>
            <a:ext cx="29809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Дробление на подкатегории</a:t>
            </a:r>
            <a:endParaRPr lang="en-US" sz="19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 и слоты по лигам, ноль по марже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66928" y="4224528"/>
            <a:ext cx="2359152" cy="475488"/>
          </a:xfrm>
          <a:prstGeom prst="roundRect">
            <a:avLst>
              <a:gd name="adj" fmla="val 50000"/>
            </a:avLst>
          </a:prstGeom>
          <a:solidFill>
            <a:srgbClr val="FF5A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" y="4224528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кэшбэк по категориям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016259" y="4224528"/>
            <a:ext cx="2359152" cy="475488"/>
          </a:xfrm>
          <a:prstGeom prst="roundRect">
            <a:avLst>
              <a:gd name="adj" fmla="val 50000"/>
            </a:avLst>
          </a:prstGeom>
          <a:solidFill>
            <a:srgbClr val="F1F2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016259" y="4224528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ранний доступ</a:t>
            </a:r>
            <a:r>
              <a:rPr lang="ru-RU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 промо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30859" y="4215699"/>
            <a:ext cx="2259829" cy="475488"/>
          </a:xfrm>
          <a:prstGeom prst="roundRect">
            <a:avLst>
              <a:gd name="adj" fmla="val 50000"/>
            </a:avLst>
          </a:prstGeom>
          <a:solidFill>
            <a:srgbClr val="F1F2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530859" y="4215699"/>
            <a:ext cx="225982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 за ассортимент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6928" y="4846320"/>
            <a:ext cx="2359152" cy="475488"/>
          </a:xfrm>
          <a:prstGeom prst="roundRect">
            <a:avLst>
              <a:gd name="adj" fmla="val 50000"/>
            </a:avLst>
          </a:prstGeom>
          <a:solidFill>
            <a:srgbClr val="F1F2F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928" y="4846320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сезонное окно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016259" y="4846320"/>
            <a:ext cx="2358523" cy="475488"/>
          </a:xfrm>
          <a:prstGeom prst="roundRect">
            <a:avLst>
              <a:gd name="adj" fmla="val 50000"/>
            </a:avLst>
          </a:prstGeom>
          <a:solidFill>
            <a:srgbClr val="F1F2F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995452" y="4846320"/>
            <a:ext cx="22683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кросс-сетевые очки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19963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Лиги — скелет: механика роста считается один раз, игровые слои поверх меняются под сезон, сегмент и бюджет.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1431</Words>
  <Application>Microsoft Office PowerPoint</Application>
  <PresentationFormat>Широкоэкранный</PresentationFormat>
  <Paragraphs>261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Лиги экономии — питч</dc:title>
  <dc:subject>PptxGenJS Presentation</dc:subject>
  <dc:creator>Лиги экономии</dc:creator>
  <cp:lastModifiedBy>Константин Фадеев</cp:lastModifiedBy>
  <cp:revision>8</cp:revision>
  <dcterms:created xsi:type="dcterms:W3CDTF">2026-09-06T09:47:41Z</dcterms:created>
  <dcterms:modified xsi:type="dcterms:W3CDTF">2026-09-06T15:23:45Z</dcterms:modified>
</cp:coreProperties>
</file>