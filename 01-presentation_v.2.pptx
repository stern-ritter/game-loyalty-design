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2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7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Промежуточная защита. Решение — лиговый игровой слой над программой лояльности X5.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живёт между покупками: скидка отвечает на вопрос что положить в корзину, но не на вопрос идти ли вообще.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пользователь не декорация: без него механика неуправляема.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Ограничение про маржу — не сноска, а определение приемлемого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Сигнал про офлайн развернул нас от экранной механики к механике, привязанной к походу в магазин.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фраза для пользователя: останься в верхней половине группы — получишь лучшие условия.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прямой ответ на критерий: награда не должна поглощать ожидаемый эффект.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Поток сверху вниз: от синтетических чеков до экранов прототипа.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Сильна продуктовая и аналитическая часть, реализация впереди. Порядок осознанный: сначала правила и экономика, потом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к защите цифр не будет — скажем прямо. Придуманное число здесь дороже отсутствующего.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Риски названы честно, включая неудобные: подписка и стимул тратить больше.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Степень участия заполнить перед сдачей.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Пропускаете шаг — получаете быстро сделанный не тот продукт.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интерфейса идёт после расчёта, а не до.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одна фраза про суть, контакты,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Лиги экономии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игровой слой поверх программы лояльности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Промежуточная защита  ·  Данил Черник, Константин Фадеев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Разовая скидка возвращает покупателя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магазин однократно, привычка — нет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6517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отсутствует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0632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приложении есть чеки, баллы, промо и отдельные игры — но нет цельного игрового слоя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60604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6517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невидима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0632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не видит своей экономии и не сравнивает себя с кем-то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544568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90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 выгорает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0176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Кратковременный всплеск активности и затухание; стоимость привлечения и удержания растёт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224528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544568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590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не работают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00176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Кросс-продажи между сетями срабатывают реже, реферальный канал почти не работает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НОСИТЕЛЬ ПРОБЛЕМЫ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пользователя, две разные боли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68880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8992" y="3264408"/>
            <a:ext cx="128016" cy="128016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9888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Решает, идти ли в X5 ещё раз на этой неделе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4178808"/>
            <a:ext cx="128016" cy="128016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4069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видит, к чему ведут его покупки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8992" y="5093208"/>
            <a:ext cx="128016" cy="128016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89888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Возвращается только за push со скидкой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468880"/>
            <a:ext cx="3291840" cy="457200"/>
          </a:xfrm>
          <a:prstGeom prst="roundRect">
            <a:avLst>
              <a:gd name="adj" fmla="val 24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Продакт лояльности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48272" y="3264408"/>
            <a:ext cx="128016" cy="12801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3154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активность на всю базу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48272" y="4178808"/>
            <a:ext cx="128016" cy="12801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4069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может объяснить, почему к человеку применена определённая механика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48272" y="5093208"/>
            <a:ext cx="128016" cy="12801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9168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 стоимости затрат на участника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именно делаем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0487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29514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игровой слой поверх программы лояльности, повышающий частоту покупок за счёт интереса, а не новых скидок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45643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334670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с нуля на синтетических данных: игровой слой, правила начисления, персонализация, антифрод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6766560" cy="896112"/>
          </a:xfrm>
          <a:prstGeom prst="roundRect">
            <a:avLst>
              <a:gd name="adj" fmla="val 816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50799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439826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механики X5 Клуба — контекст, не решение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2148840"/>
            <a:ext cx="3794760" cy="3456432"/>
          </a:xfrm>
          <a:prstGeom prst="roundRect">
            <a:avLst>
              <a:gd name="adj" fmla="val 2116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9FB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МЕТРИКА ПИЛОТА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N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покупок за период — рост доли таких пользователей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617720"/>
            <a:ext cx="3108960" cy="1828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4800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снижения маржи на участника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УСЛЫШАЛИ ОТ КЕЙСОДАТЕЛЯ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сигнала из Q&amp;A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37744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 прежде всего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5786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нужен в первую очередь в офлайне — он больше; нужен wow-эффект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36499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566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магазинов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352544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242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в фокусе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5537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сегмента молодёжи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7223760" cy="841248"/>
          </a:xfrm>
          <a:prstGeom prst="roundRect">
            <a:avLst>
              <a:gd name="adj" fmla="val 869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5340096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5230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55412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Подумать отдельно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2148840"/>
            <a:ext cx="3337560" cy="3310128"/>
          </a:xfrm>
          <a:prstGeom prst="roundRect">
            <a:avLst>
              <a:gd name="adj" fmla="val 2210"/>
            </a:avLst>
          </a:prstGeom>
          <a:solidFill>
            <a:srgbClr val="0C2A1C"/>
          </a:solidFill>
          <a:ln w="12700">
            <a:solidFill>
              <a:srgbClr val="0C2A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2926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30 000</a:t>
            </a:r>
            <a:endParaRPr lang="en-US" sz="5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8862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магазинов — масштаб,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котором механика должна работать без ручной настройки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ПОДХОД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Лиги экономии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756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цикл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2257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похожих участников соревнуется внутри своей лиги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9169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считаем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16382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определяют сумма покупок и регулярность походов — примерно 50/50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9417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7581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месяца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0050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Верхняя часть поднимается, середина остаётся, низ вылетает в лигу ниже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3542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45994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лиг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8463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бронзовой до алмазной; чем выше лига — тем меньше группа и сильнее конкуренция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376672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54406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 месяца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56875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Сезонное окно на 6 месяцев и паузы, которые зарабатываются регулярностью активности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ЛИГ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450592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9CB8A6"/>
          </a:solidFill>
          <a:ln w="12700">
            <a:solidFill>
              <a:srgbClr val="9C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468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Бронзовая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793492"/>
            <a:ext cx="2066544" cy="274320"/>
          </a:xfrm>
          <a:prstGeom prst="roundRect">
            <a:avLst>
              <a:gd name="adj" fmla="val 20000"/>
            </a:avLst>
          </a:prstGeom>
          <a:solidFill>
            <a:srgbClr val="8FAF9C"/>
          </a:solidFill>
          <a:ln w="12700">
            <a:solidFill>
              <a:srgbClr val="8FAF9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28117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Серебряная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136392"/>
            <a:ext cx="2304288" cy="274320"/>
          </a:xfrm>
          <a:prstGeom prst="roundRect">
            <a:avLst>
              <a:gd name="adj" fmla="val 20000"/>
            </a:avLst>
          </a:prstGeom>
          <a:solidFill>
            <a:srgbClr val="82A692"/>
          </a:solidFill>
          <a:ln w="12700">
            <a:solidFill>
              <a:srgbClr val="82A69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315468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479292"/>
            <a:ext cx="2542032" cy="274320"/>
          </a:xfrm>
          <a:prstGeom prst="roundRect">
            <a:avLst>
              <a:gd name="adj" fmla="val 20000"/>
            </a:avLst>
          </a:prstGeom>
          <a:solidFill>
            <a:srgbClr val="759D88"/>
          </a:solidFill>
          <a:ln w="12700">
            <a:solidFill>
              <a:srgbClr val="759D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349758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Платиновая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822192"/>
            <a:ext cx="2779776" cy="274320"/>
          </a:xfrm>
          <a:prstGeom prst="roundRect">
            <a:avLst>
              <a:gd name="adj" fmla="val 20000"/>
            </a:avLst>
          </a:prstGeom>
          <a:solidFill>
            <a:srgbClr val="68947E"/>
          </a:solidFill>
          <a:ln w="12700">
            <a:solidFill>
              <a:srgbClr val="68947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8404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Рубиновая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416509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5B8B74"/>
          </a:solidFill>
          <a:ln w="12700">
            <a:solidFill>
              <a:srgbClr val="5B8B7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41833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Изумрудная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4507992"/>
            <a:ext cx="3255264" cy="274320"/>
          </a:xfrm>
          <a:prstGeom prst="roundRect">
            <a:avLst>
              <a:gd name="adj" fmla="val 20000"/>
            </a:avLst>
          </a:prstGeom>
          <a:solidFill>
            <a:srgbClr val="4E826A"/>
          </a:solidFill>
          <a:ln w="12700">
            <a:solidFill>
              <a:srgbClr val="4E82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45262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Сапфировая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4850892"/>
            <a:ext cx="3493008" cy="274320"/>
          </a:xfrm>
          <a:prstGeom prst="roundRect">
            <a:avLst>
              <a:gd name="adj" fmla="val 20000"/>
            </a:avLst>
          </a:prstGeom>
          <a:solidFill>
            <a:srgbClr val="417960"/>
          </a:solidFill>
          <a:ln w="12700">
            <a:solidFill>
              <a:srgbClr val="4179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486918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Аметистовая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5193792"/>
            <a:ext cx="3730752" cy="274320"/>
          </a:xfrm>
          <a:prstGeom prst="roundRect">
            <a:avLst>
              <a:gd name="adj" fmla="val 20000"/>
            </a:avLst>
          </a:prstGeom>
          <a:solidFill>
            <a:srgbClr val="347056"/>
          </a:solidFill>
          <a:ln w="12700">
            <a:solidFill>
              <a:srgbClr val="34705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0" y="521208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Обсидиановая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5536692"/>
            <a:ext cx="3968496" cy="274320"/>
          </a:xfrm>
          <a:prstGeom prst="roundRect">
            <a:avLst>
              <a:gd name="adj" fmla="val 20000"/>
            </a:avLst>
          </a:prstGeom>
          <a:solidFill>
            <a:srgbClr val="27674C"/>
          </a:solidFill>
          <a:ln w="12700">
            <a:solidFill>
              <a:srgbClr val="27674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0" y="55549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Жемчужная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5879592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75120" y="58978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Алмазная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И МАРЖА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Награда = условия лояльности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следующий месяц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 кэшбэка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×1,0 → ×2,5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лимит начисления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21624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21624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любимых товаров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фиксированной скидкой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0C2A1C"/>
          </a:solidFill>
          <a:ln w="12700">
            <a:solidFill>
              <a:srgbClr val="0C2A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9FBC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АРГУМЕНТ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983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Кэшбэк — процент от оборота, который человек уже сделал. Стоимость награды растёт вместе с выручкой от неё и ограничена сверху лимитом.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РЕШЕНИЯ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устроено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63240" y="205740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74720" y="20574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Синтетические чеки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10800000">
            <a:off x="5980176" y="2651760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2798064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7980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очков: сумма + регулярность, потолки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10800000">
            <a:off x="5980176" y="3392424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538728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353872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групп: похожие участники, ~30 → 12 по лигам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5980176" y="4133088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4279392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42793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Месячный расчёт: повышение / удержание / понижение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980176" y="4873752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5020056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50200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условий на следующий месяц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5980176" y="5614416"/>
            <a:ext cx="201168" cy="118872"/>
          </a:xfrm>
          <a:prstGeom prst="triangle">
            <a:avLst/>
          </a:prstGeom>
          <a:solidFill>
            <a:srgbClr val="A8BCAF"/>
          </a:solidFill>
          <a:ln w="12700">
            <a:solidFill>
              <a:srgbClr val="A8BC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576072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576072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Экраны: профиль · лига и группа · рейтинг · реферал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ЭТАПЫ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сделано к промежуточной точке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кейса, Q&amp;A с кейсодателем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0" y="2185416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2185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1518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аналогов и baseline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269748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2724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Pack, бэклог гипотез, выбор RAT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209544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3209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63931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механики: лиги, очки, награды, сезон, паузы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55280" y="3721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51376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15137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Антифрод: векторы накрутки и правила-контрмеры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4233672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8791B"/>
          </a:solidFill>
          <a:ln w="12700">
            <a:solidFill>
              <a:srgbClr val="B879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4233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описаны, скоринг — нет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634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синтетики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4745736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4745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начат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175504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17550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и расчёт экономики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55280" y="525780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начат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687568"/>
            <a:ext cx="10927080" cy="438912"/>
          </a:xfrm>
          <a:prstGeom prst="roundRect">
            <a:avLst>
              <a:gd name="adj" fmla="val 16667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568756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экранов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5769864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5280" y="5769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начат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РЕЗУЛЬТАТЫ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 на чём считаем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27080" cy="411480"/>
          </a:xfrm>
          <a:prstGeom prst="roundRect">
            <a:avLst>
              <a:gd name="adj" fmla="val 17778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проверяем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измеряем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60604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участников по лигам через 6 месяцев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6060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месячных циклов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260604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0896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награды против прироста маржи, по лигам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10896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на 1–10 тыс. профилей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310896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61188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сезонного окна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61188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месяцев с пропуском до и после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361188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11480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соотношению сумма / регулярность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11480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Конфигурации 70/30, 50/50, 30/70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11480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61772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461772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на размеченной синтетике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61772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927080" cy="429768"/>
          </a:xfrm>
          <a:prstGeom prst="roundRect">
            <a:avLst>
              <a:gd name="adj" fmla="val 17021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120640"/>
            <a:ext cx="5120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сегмента молодёжи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51206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срез симуляции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5120640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появятся после прогона симуляции. Оценочные числа сюда не подставляются.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РИСКИ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механика может сломаться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40864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2374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Верхние лиги превратятся в бесконечный цикл: попал на месяц — вылетел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2841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распределение на симуляции, при необходимости ослабляем зоны вылета в высших лигах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6552" y="2103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0872" y="2340864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90872" y="252374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Понижение демотивирует нижние лиги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332841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бронзовой вылета нет, понижение всегда на одну ступень; рассматриваем защиту от первого понижения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21031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7344" y="2340864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67344" y="252374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Неравенство по сегментам: механика выгоднее тем, кто закупает чаще и на меньшие суммы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32841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на данных влияние на сегмент крупных и редких закупок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35424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71830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 по сумме толкает к лишним тратам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52297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Вогнутая функция суммы, дневной потолок засчитываемой суммы, вес регулярности 50/50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16552" y="42976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4535424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90872" y="471830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Накрутка чеков и сговор внутри группы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90872" y="552297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Правила-контрмеры в самой механике + скоринг, precision важнее recall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93024" y="42976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7344" y="4535424"/>
            <a:ext cx="146304" cy="14630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7344" y="4718304"/>
            <a:ext cx="2971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правил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67344" y="552297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фраза на первом экране, детали — по запросу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ЗОНЫ ОТВЕТСТВЕННОСТИ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514600"/>
            <a:ext cx="777240" cy="777240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ДЧ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578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Данил Черник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611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886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Сегмент, гипотезы, экономика награды, план пилота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514600"/>
            <a:ext cx="777240" cy="777240"/>
          </a:xfrm>
          <a:prstGeom prst="ellipse">
            <a:avLst/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578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Константин Фадеев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 ·  Frontend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611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886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Синтетика, симуляция, антифрод-скоринг. Прототип экранов, кликабельный сценарий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ИСПОЛЬЗУЕМ ИИ В РАБОТЕ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 </a:t>
            </a:r>
            <a:r>
              <a:rPr lang="en-US" sz="3200" b="1" dirty="0" err="1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ускоряет</a:t>
            </a: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разработку</a:t>
            </a: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 не </a:t>
            </a:r>
            <a:r>
              <a:rPr lang="en-US" sz="3200" b="1" dirty="0" err="1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отменяет</a:t>
            </a: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ряд</a:t>
            </a: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шагов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514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5146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делегируем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0175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контекста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01752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по аналогам, разбор материалов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0175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 с кейсодателем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210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6210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бэклога, приоритизация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62102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самого рискованного предположения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2245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22452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Кликабельная версия за часы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2245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Решение, что проверяем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F7F9F6"/>
          </a:solidFill>
          <a:ln w="12700">
            <a:solidFill>
              <a:srgbClr val="F7F9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8280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82803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Автотесты сценариев, разбор прогонов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482803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Продуктовая метрика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512064"/>
          </a:xfrm>
          <a:prstGeom prst="roundRect">
            <a:avLst>
              <a:gd name="adj" fmla="val 14286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4315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543153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питча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54315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про неподтвердившееся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ДО ФИНАЛЬНОЙ ЗАЩИТЫ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 когда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123A28"/>
          </a:solidFill>
          <a:ln w="12700">
            <a:solidFill>
              <a:srgbClr val="123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синтетики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симулятор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RAT: сходится ли экономика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Антифрод-скоринг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объяснимый порог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3–4 экранов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кликабельный сценарий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840" y="237744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EDF2EC"/>
          </a:solidFill>
          <a:ln w="12700">
            <a:solidFill>
              <a:srgbClr val="EDF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65176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33756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Одностраничный план пилота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4343400"/>
            <a:ext cx="198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Гипотеза, основная и защитные метрики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не случаен: сначала проверяем экономику. Если она не сходится — менять придётся механику, а не прототип.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269748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«Останься в верхней половине группы 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получишь лучшие условия»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4663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6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Данил Черник  ·  Константин Фадеев      Вопросы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1144</Words>
  <Application>Microsoft Office PowerPoint</Application>
  <PresentationFormat>Широкоэкранный</PresentationFormat>
  <Paragraphs>240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Константин Фадеев</cp:lastModifiedBy>
  <cp:revision>2</cp:revision>
  <dcterms:created xsi:type="dcterms:W3CDTF">2026-09-04T19:37:12Z</dcterms:created>
  <dcterms:modified xsi:type="dcterms:W3CDTF">2026-09-04T19:47:32Z</dcterms:modified>
</cp:coreProperties>
</file>